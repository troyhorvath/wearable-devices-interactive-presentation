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 Light"/>
      <p:regular r:id="rId25"/>
      <p:bold r:id="rId26"/>
      <p:italic r:id="rId27"/>
      <p:boldItalic r:id="rId28"/>
    </p:embeddedFont>
    <p:embeddedFont>
      <p:font typeface="Lobster"/>
      <p:regular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Inter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bs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InterExtraBold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Extra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8a752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8a752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22b7e9e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22b7e9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922b7e9ea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922b7e9ea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922b7e9ea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922b7e9ea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922b7e9e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922b7e9e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922b7e9ea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922b7e9ea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922b7e9ea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922b7e9ea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922b7e9ea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922b7e9ea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922b7e9ea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922b7e9ea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922b7e9ea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922b7e9ea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0" name="Google Shape;70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72" name="Google Shape;72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</a:t>
            </a: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79" name="Google Shape;79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86" name="Google Shape;86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88" name="Google Shape;88;p16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90" name="Google Shape;90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" name="Google Shape;97;p1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8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1" name="Google Shape;111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9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16" name="Google Shape;116;p19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17" name="Google Shape;117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9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0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24" name="Google Shape;124;p20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26" name="Google Shape;126;p2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0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31" name="Google Shape;131;p21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32" name="Google Shape;132;p21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33" name="Google Shape;133;p21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134" name="Google Shape;134;p2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1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45" name="Google Shape;145;p2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57" name="Google Shape;157;p2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60" name="Google Shape;160;p23"/>
          <p:cNvCxnSpPr>
            <a:endCxn id="161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3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3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3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0" name="Google Shape;170;p23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2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84" name="Google Shape;184;p2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85" name="Google Shape;185;p2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2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91" name="Google Shape;191;p26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92" name="Google Shape;192;p2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6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2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7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6" name="Google Shape;206;p27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8" name="Google Shape;208;p27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0" name="Google Shape;210;p27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11" name="Google Shape;211;p27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2" name="Google Shape;212;p27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4" name="Google Shape;214;p27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16" name="Google Shape;216;p27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17" name="Google Shape;217;p2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8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25" name="Google Shape;225;p2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8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230" name="Google Shape;230;p29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3" name="Google Shape;233;p30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7" name="Google Shape;237;p30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238" name="Google Shape;238;p3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0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1" name="Google Shape;241;p30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42" name="Google Shape;242;p30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3" name="Google Shape;243;p30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4" name="Google Shape;244;p30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5" name="Google Shape;245;p30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6" name="Google Shape;246;p30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7" name="Google Shape;247;p30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8" name="Google Shape;248;p3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bg>
      <p:bgPr>
        <a:solidFill>
          <a:schemeClr val="dk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3" name="Google Shape;253;p31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4" name="Google Shape;254;p31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5" name="Google Shape;255;p31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6" name="Google Shape;256;p31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7" name="Google Shape;257;p31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31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9" name="Google Shape;259;p31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60" name="Google Shape;260;p31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61" name="Google Shape;261;p31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31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63" name="Google Shape;263;p31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64" name="Google Shape;264;p31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65" name="Google Shape;265;p31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6" name="Google Shape;266;p31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7" name="Google Shape;267;p3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68" name="Google Shape;268;p3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3" name="Google Shape;273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5" name="Google Shape;285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6" name="Google Shape;28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0" name="Google Shape;300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9" name="Google Shape;30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4" name="Google Shape;31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9" name="Google Shape;329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2" name="Google Shape;332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9" name="Google Shape;339;p4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0" name="Google Shape;340;p4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1" name="Google Shape;341;p4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8" name="Google Shape;34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9" name="Google Shape;34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1" name="Google Shape;35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55" name="Google Shape;35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4" name="Google Shape;364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8" name="Google Shape;368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5" name="Google Shape;375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90" name="Google Shape;390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b="1"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9" Type="http://schemas.openxmlformats.org/officeDocument/2006/relationships/slide" Target="/ppt/slides/slide9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8.xml"/><Relationship Id="rId10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hyperlink" Target="https://ringconn.com/?gad_source=1&amp;gad_campaignid=21221465690&amp;gbraid=0AAAAApeBEkT2eS3I9IVlPrV8OjULKwY_6&amp;gclid=Cj0KCQjwhsrUBhDxARIsAN3AQSdHphZ-R0Y5lDCCmMXnIokHA2J2lyfhZFB5MC7jQ3rE-euqz1kch0YaArxQEALw_wcB" TargetMode="External"/><Relationship Id="rId5" Type="http://schemas.openxmlformats.org/officeDocument/2006/relationships/slide" Target="/ppt/slides/slide2.xml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hyperlink" Target="https://ringconn.com/blogs/news/the-ultimate-guide-to-the-ringconn-app-your-personal-ai-health-companion?gad_source=1&amp;gad_campaignid=23826192626&amp;gbraid=0AAAAApeBEkTwZO9S7Ysa3G6Tq3FmSa72I&amp;gclid=Cj0KCQjwhsrUBhDxARIsAN3AQSel_De-tZmEKfp7k9I0NIMMRMvW6L55ttR_B_0ABRHyJXZc7k_DyVcaAt83EALw_wcB" TargetMode="External"/><Relationship Id="rId9" Type="http://schemas.openxmlformats.org/officeDocument/2006/relationships/hyperlink" Target="https://www.amazon.com/s?k=Ringconn&amp;crid=3GLQ5VORLQQZX&amp;sprefix=ringcon%2Caps%2C875&amp;ref=nb_sb_noss_1" TargetMode="External"/><Relationship Id="rId5" Type="http://schemas.openxmlformats.org/officeDocument/2006/relationships/hyperlink" Target="https://www.mokosmart.com/bluetooth-vs-bluetooth-low-energy-a-detailed-comparison/" TargetMode="External"/><Relationship Id="rId6" Type="http://schemas.openxmlformats.org/officeDocument/2006/relationships/hyperlink" Target="https://ringconn.com/products/ringconn-gen-3?variant=49061926797620" TargetMode="External"/><Relationship Id="rId7" Type="http://schemas.openxmlformats.org/officeDocument/2006/relationships/hyperlink" Target="https://ringconn.com/products/gen-3-sizing-kit?_pos=1&amp;_psq=Sizing+&amp;_psid=760c93ff3&amp;_ss=e" TargetMode="External"/><Relationship Id="rId8" Type="http://schemas.openxmlformats.org/officeDocument/2006/relationships/hyperlink" Target="https://ringconn.com/pages/app-features" TargetMode="External"/><Relationship Id="rId10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 txBox="1"/>
          <p:nvPr>
            <p:ph type="title"/>
          </p:nvPr>
        </p:nvSpPr>
        <p:spPr>
          <a:xfrm>
            <a:off x="167100" y="1943903"/>
            <a:ext cx="50100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Rings</a:t>
            </a:r>
            <a:endParaRPr/>
          </a:p>
        </p:txBody>
      </p:sp>
      <p:sp>
        <p:nvSpPr>
          <p:cNvPr id="398" name="Google Shape;398;p53"/>
          <p:cNvSpPr txBox="1"/>
          <p:nvPr>
            <p:ph idx="2" type="title"/>
          </p:nvPr>
        </p:nvSpPr>
        <p:spPr>
          <a:xfrm>
            <a:off x="259375" y="2839100"/>
            <a:ext cx="49176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BME 3113 Wearable Technology Studio </a:t>
            </a:r>
            <a:endParaRPr/>
          </a:p>
        </p:txBody>
      </p:sp>
      <p:sp>
        <p:nvSpPr>
          <p:cNvPr id="399" name="Google Shape;399;p53"/>
          <p:cNvSpPr/>
          <p:nvPr/>
        </p:nvSpPr>
        <p:spPr>
          <a:xfrm>
            <a:off x="167102" y="4213425"/>
            <a:ext cx="19626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Troy Horvath</a:t>
            </a:r>
            <a:endParaRPr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400" name="Google Shape;40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473" y="228940"/>
            <a:ext cx="3662101" cy="4685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>
            <a:hlinkClick action="ppaction://hlinksldjump" r:id="rId3"/>
          </p:cNvPr>
          <p:cNvSpPr/>
          <p:nvPr/>
        </p:nvSpPr>
        <p:spPr>
          <a:xfrm>
            <a:off x="627825" y="7285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Value Proposition</a:t>
            </a:r>
            <a:endParaRPr sz="1000"/>
          </a:p>
        </p:txBody>
      </p:sp>
      <p:sp>
        <p:nvSpPr>
          <p:cNvPr id="406" name="Google Shape;406;p54">
            <a:hlinkClick action="ppaction://hlinksldjump" r:id="rId4"/>
          </p:cNvPr>
          <p:cNvSpPr/>
          <p:nvPr/>
        </p:nvSpPr>
        <p:spPr>
          <a:xfrm>
            <a:off x="627825" y="1747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Useability</a:t>
            </a:r>
            <a:endParaRPr sz="1000"/>
          </a:p>
        </p:txBody>
      </p:sp>
      <p:sp>
        <p:nvSpPr>
          <p:cNvPr id="407" name="Google Shape;407;p54">
            <a:hlinkClick action="ppaction://hlinksldjump" r:id="rId5"/>
          </p:cNvPr>
          <p:cNvSpPr/>
          <p:nvPr/>
        </p:nvSpPr>
        <p:spPr>
          <a:xfrm>
            <a:off x="627825" y="2718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Connectivity</a:t>
            </a:r>
            <a:endParaRPr sz="1000"/>
          </a:p>
        </p:txBody>
      </p:sp>
      <p:sp>
        <p:nvSpPr>
          <p:cNvPr id="408" name="Google Shape;408;p54">
            <a:hlinkClick action="ppaction://hlinksldjump" r:id="rId6"/>
          </p:cNvPr>
          <p:cNvSpPr/>
          <p:nvPr/>
        </p:nvSpPr>
        <p:spPr>
          <a:xfrm>
            <a:off x="627825" y="3689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Retail</a:t>
            </a:r>
            <a:endParaRPr sz="1000"/>
          </a:p>
        </p:txBody>
      </p:sp>
      <p:sp>
        <p:nvSpPr>
          <p:cNvPr id="409" name="Google Shape;409;p54">
            <a:hlinkClick action="ppaction://hlinksldjump" r:id="rId7"/>
          </p:cNvPr>
          <p:cNvSpPr/>
          <p:nvPr/>
        </p:nvSpPr>
        <p:spPr>
          <a:xfrm>
            <a:off x="6203575" y="7285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Hardware</a:t>
            </a:r>
            <a:endParaRPr sz="1000"/>
          </a:p>
        </p:txBody>
      </p:sp>
      <p:sp>
        <p:nvSpPr>
          <p:cNvPr id="410" name="Google Shape;410;p54">
            <a:hlinkClick action="ppaction://hlinksldjump" r:id="rId8"/>
          </p:cNvPr>
          <p:cNvSpPr/>
          <p:nvPr/>
        </p:nvSpPr>
        <p:spPr>
          <a:xfrm>
            <a:off x="6203575" y="1747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Assembly</a:t>
            </a:r>
            <a:endParaRPr sz="1000"/>
          </a:p>
        </p:txBody>
      </p:sp>
      <p:sp>
        <p:nvSpPr>
          <p:cNvPr id="411" name="Google Shape;411;p54">
            <a:hlinkClick action="ppaction://hlinksldjump" r:id="rId9"/>
          </p:cNvPr>
          <p:cNvSpPr/>
          <p:nvPr/>
        </p:nvSpPr>
        <p:spPr>
          <a:xfrm>
            <a:off x="6203575" y="2718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Review</a:t>
            </a:r>
            <a:endParaRPr sz="1000"/>
          </a:p>
        </p:txBody>
      </p:sp>
      <p:sp>
        <p:nvSpPr>
          <p:cNvPr id="412" name="Google Shape;412;p54"/>
          <p:cNvSpPr/>
          <p:nvPr/>
        </p:nvSpPr>
        <p:spPr>
          <a:xfrm>
            <a:off x="6203575" y="3689000"/>
            <a:ext cx="2473500" cy="726000"/>
          </a:xfrm>
          <a:prstGeom prst="horizontalScroll">
            <a:avLst>
              <a:gd fmla="val 12500" name="adj"/>
            </a:avLst>
          </a:prstGeom>
          <a:solidFill>
            <a:srgbClr val="CFE2F3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References</a:t>
            </a:r>
            <a:endParaRPr sz="1000"/>
          </a:p>
        </p:txBody>
      </p:sp>
      <p:pic>
        <p:nvPicPr>
          <p:cNvPr id="413" name="Google Shape;413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253725" y="1121909"/>
            <a:ext cx="2667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Proposition</a:t>
            </a:r>
            <a:endParaRPr/>
          </a:p>
        </p:txBody>
      </p:sp>
      <p:sp>
        <p:nvSpPr>
          <p:cNvPr id="419" name="Google Shape;419;p5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it: </a:t>
            </a:r>
            <a:r>
              <a:rPr lang="en"/>
              <a:t>The Smart Ring is a active, non-invasive biometric biosensor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Mission: </a:t>
            </a:r>
            <a:r>
              <a:rPr lang="en"/>
              <a:t>Through lightweight, effortless wearability, and easily accessible insights, the Ring will allow individuals to optimize their health and recovery by delivering physiological monitoring.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5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21" name="Google Shape;42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8550" y="973813"/>
            <a:ext cx="5855450" cy="324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input/output</a:t>
            </a:r>
            <a:endParaRPr/>
          </a:p>
        </p:txBody>
      </p:sp>
      <p:sp>
        <p:nvSpPr>
          <p:cNvPr id="427" name="Google Shape;427;p5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Inputs (Data Capture):</a:t>
            </a:r>
            <a:endParaRPr b="1"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Passive Biometric Sensing</a:t>
            </a:r>
            <a:endParaRPr/>
          </a:p>
          <a:p>
            <a:pPr indent="-29337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PPG (Heart Rate, Heart Rate Variability, Respiratory Rate)</a:t>
            </a:r>
            <a:endParaRPr/>
          </a:p>
          <a:p>
            <a:pPr indent="-29337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Skin Temperature Trends</a:t>
            </a:r>
            <a:endParaRPr/>
          </a:p>
          <a:p>
            <a:pPr indent="-29337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Movement &amp; Sleep Tracking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Active User Logging (Manual habits)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Outputs (User Insights):</a:t>
            </a:r>
            <a:endParaRPr b="1"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Dailey Scores (0-100): Readiness, Sleep, and Activity Scores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Actionable Guidance: Recovery Recommendations and trend charts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6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29" name="Google Shape;42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6875" y="2056375"/>
            <a:ext cx="2993325" cy="29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0027" y="118382"/>
            <a:ext cx="223386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3900" y="646684"/>
            <a:ext cx="1710150" cy="196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connectivity</a:t>
            </a:r>
            <a:endParaRPr/>
          </a:p>
        </p:txBody>
      </p:sp>
      <p:sp>
        <p:nvSpPr>
          <p:cNvPr id="437" name="Google Shape;437;p5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Transmission:</a:t>
            </a:r>
            <a:endParaRPr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Bluetooth Low Energy: Short-range background syncing that minimizes ring battery drain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On-board Storage: Internal flash memory stores several days of biometric data when disconnected from Iphone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Ecosystem Integrations:</a:t>
            </a:r>
            <a:endParaRPr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Health Platforms: Including sync to Apple Healthkit, Google Health, RingConn App, etc..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Fitness Platforms: Automatically exports recorded workouts and imports external workouts to refine Readiness and Activity Scores</a:t>
            </a:r>
            <a:endParaRPr/>
          </a:p>
        </p:txBody>
      </p:sp>
      <p:sp>
        <p:nvSpPr>
          <p:cNvPr id="438" name="Google Shape;438;p57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39" name="Google Shape;43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2632" y="455650"/>
            <a:ext cx="2589500" cy="145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0621" y="775000"/>
            <a:ext cx="1137250" cy="11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7525" y="2001500"/>
            <a:ext cx="5408374" cy="30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Retail</a:t>
            </a:r>
            <a:endParaRPr/>
          </a:p>
        </p:txBody>
      </p:sp>
      <p:sp>
        <p:nvSpPr>
          <p:cNvPr id="447" name="Google Shape;447;p5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RingConn Website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Distribution:</a:t>
            </a:r>
            <a:endParaRPr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Direct to Consumer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Retail Partners (BestBuy, Target)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Sizing Friction:</a:t>
            </a:r>
            <a:endParaRPr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At-Home Sizing Kits: Plastic Sizing Kits to wear for 24 hours before </a:t>
            </a:r>
            <a:r>
              <a:rPr lang="en"/>
              <a:t>receiving</a:t>
            </a:r>
            <a:r>
              <a:rPr lang="en"/>
              <a:t> their final ring size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In-store 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Sale:</a:t>
            </a:r>
            <a:endParaRPr/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Hardware Sale: ($299-$499)</a:t>
            </a:r>
            <a:endParaRPr/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Recurring Membership: </a:t>
            </a:r>
            <a:r>
              <a:rPr lang="en"/>
              <a:t>Subscription</a:t>
            </a:r>
            <a:r>
              <a:rPr lang="en"/>
              <a:t> required to unlock full analysis ($5.99/month)</a:t>
            </a:r>
            <a:endParaRPr/>
          </a:p>
        </p:txBody>
      </p:sp>
      <p:sp>
        <p:nvSpPr>
          <p:cNvPr id="448" name="Google Shape;448;p58">
            <a:hlinkClick action="ppaction://hlinksldjump" r:id="rId5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49" name="Google Shape;449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6375" y="2953956"/>
            <a:ext cx="2979523" cy="19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03763" y="1529925"/>
            <a:ext cx="2587500" cy="340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20200" y="904400"/>
            <a:ext cx="3230549" cy="147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9"/>
          <p:cNvSpPr txBox="1"/>
          <p:nvPr>
            <p:ph type="ctrTitle"/>
          </p:nvPr>
        </p:nvSpPr>
        <p:spPr>
          <a:xfrm>
            <a:off x="266575" y="2884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</a:t>
            </a:r>
            <a:endParaRPr/>
          </a:p>
        </p:txBody>
      </p:sp>
      <p:sp>
        <p:nvSpPr>
          <p:cNvPr id="457" name="Google Shape;457;p59"/>
          <p:cNvSpPr txBox="1"/>
          <p:nvPr>
            <p:ph idx="1" type="subTitle"/>
          </p:nvPr>
        </p:nvSpPr>
        <p:spPr>
          <a:xfrm>
            <a:off x="325275" y="1163550"/>
            <a:ext cx="3361800" cy="3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Biometric &amp; Optical Sensors: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Photoplethysmography Sensor (PPG): Multi-wavelength setup using green, red and infrared LEDs to track heart rate, blood oxygen saturation and HRV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Temperature Detection: Thermistors that use skin temperature to determine circadian rhythm and sleep recovery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&amp; Inertial Hardware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Accelerometer: Tracks multi-directional movement to monitor steps, physical activity, energy expenditure, and sleep stages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Processing, Connectivity &amp; Power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Bluetooth Low Energy Chip: Allows background syncing at low power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Microcontroller Unit: Algorithmic data processing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Lithium-ion Battery: </a:t>
            </a:r>
            <a:r>
              <a:rPr lang="en"/>
              <a:t>Rechargeable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Power </a:t>
            </a:r>
            <a:r>
              <a:rPr lang="en"/>
              <a:t>Management</a:t>
            </a:r>
            <a:r>
              <a:rPr lang="en"/>
              <a:t> Integrated Circuit: Power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Build: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Outer Shell: Lightweight Titanium Frame coated with a protective finish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Inner Molding (Resin): Epoxy Resin to protect helping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9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59" name="Google Shape;459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1072" y="1079190"/>
            <a:ext cx="5310950" cy="3540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</a:t>
            </a:r>
            <a:endParaRPr/>
          </a:p>
        </p:txBody>
      </p:sp>
      <p:sp>
        <p:nvSpPr>
          <p:cNvPr id="465" name="Google Shape;465;p6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Component Stacking/Micro-Soldering: Printed Circuit Boards, BLE, etc.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Sensor Integration: Multi-wavelength PPG sensor, </a:t>
            </a:r>
            <a:r>
              <a:rPr lang="en"/>
              <a:t>accelerometer and thermistors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Power Cell Insertion: Lithium-ion Battery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Inner Molding/Resin Sealing: Assembly is sealed together keeping sensors flush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Titanium/SS Encasement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Quality Control/Calibration: Automated Optical Inspection</a:t>
            </a:r>
            <a:endParaRPr/>
          </a:p>
        </p:txBody>
      </p:sp>
      <p:sp>
        <p:nvSpPr>
          <p:cNvPr id="466" name="Google Shape;466;p60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467" name="Google Shape;46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6225" y="1036476"/>
            <a:ext cx="5389252" cy="359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>
            <p:ph type="ctrTitle"/>
          </p:nvPr>
        </p:nvSpPr>
        <p:spPr>
          <a:xfrm>
            <a:off x="279600" y="32530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473" name="Google Shape;473;p61"/>
          <p:cNvSpPr txBox="1"/>
          <p:nvPr>
            <p:ph idx="1" type="subTitle"/>
          </p:nvPr>
        </p:nvSpPr>
        <p:spPr>
          <a:xfrm>
            <a:off x="390525" y="1528900"/>
            <a:ext cx="3107400" cy="26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Ring Strengths</a:t>
            </a:r>
            <a:endParaRPr b="1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Low-Profile Form Factor: Lightweight, titanium (very biocompatible), comfortable to wear </a:t>
            </a:r>
            <a:r>
              <a:rPr lang="en"/>
              <a:t>without</a:t>
            </a:r>
            <a:r>
              <a:rPr lang="en"/>
              <a:t> the need for a screen.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BioTracking: </a:t>
            </a:r>
            <a:r>
              <a:rPr lang="en"/>
              <a:t>Passive</a:t>
            </a:r>
            <a:r>
              <a:rPr lang="en"/>
              <a:t> Collection of HR, HRV, temperature, and sleep stages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Actionable Readiness Insights: Clear framework for recovery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1">
            <a:hlinkClick action="ppaction://hlinksldjump" r:id="rId4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475" name="Google Shape;475;p61"/>
          <p:cNvSpPr txBox="1"/>
          <p:nvPr>
            <p:ph idx="1" type="subTitle"/>
          </p:nvPr>
        </p:nvSpPr>
        <p:spPr>
          <a:xfrm>
            <a:off x="5749067" y="1528900"/>
            <a:ext cx="3107400" cy="26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Areas for Improvement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Sizing Accuracy: Half Sizes or micro adjustment features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Enhanced Workout: Expanding real-time heart rate during high-intensity intervals or heavy lifting would improve utility for serious athletes who rely on chest straps or watches for gym session.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>
            <p:ph type="ctrTitle"/>
          </p:nvPr>
        </p:nvSpPr>
        <p:spPr>
          <a:xfrm>
            <a:off x="390525" y="288471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81" name="Google Shape;481;p62"/>
          <p:cNvSpPr txBox="1"/>
          <p:nvPr>
            <p:ph idx="1" type="subTitle"/>
          </p:nvPr>
        </p:nvSpPr>
        <p:spPr>
          <a:xfrm>
            <a:off x="390525" y="1190361"/>
            <a:ext cx="82221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 u="sng">
                <a:hlinkClick r:id="rId4"/>
              </a:rPr>
              <a:t>RingConn App User Guide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 u="sng">
                <a:hlinkClick r:id="rId5"/>
              </a:rPr>
              <a:t>Bluetooth vs. Bluetooth Low Energy </a:t>
            </a:r>
            <a:r>
              <a:rPr lang="en" sz="1000" u="sng"/>
              <a:t>Comparison</a:t>
            </a:r>
            <a:endParaRPr sz="1000" u="sng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 u="sng">
                <a:hlinkClick r:id="rId6"/>
              </a:rPr>
              <a:t>RingConn Gen 3 Information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-"/>
            </a:pPr>
            <a:r>
              <a:rPr lang="en" sz="1000" u="sng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RingConn Sizing Kit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-"/>
            </a:pPr>
            <a:r>
              <a:rPr lang="en" sz="1000" u="sng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RingConn App Features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 u="sng">
                <a:hlinkClick r:id="rId9"/>
              </a:rPr>
              <a:t>RingConn Amazon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2">
            <a:hlinkClick action="ppaction://hlinksldjump" r:id="rId10"/>
          </p:cNvPr>
          <p:cNvSpPr txBox="1"/>
          <p:nvPr/>
        </p:nvSpPr>
        <p:spPr>
          <a:xfrm>
            <a:off x="7170700" y="288475"/>
            <a:ext cx="1735200" cy="4002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rotWithShape="0" algn="bl">
              <a:srgbClr val="000000"/>
            </a:outerShdw>
            <a:reflection blurRad="0" dir="0" dist="0" endA="0" endPos="100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Main Page</a:t>
            </a:r>
            <a:endParaRPr>
              <a:highlight>
                <a:srgbClr val="0B5394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